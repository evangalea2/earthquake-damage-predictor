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Average"/>
      <p:regular r:id="rId22"/>
    </p:embeddedFont>
    <p:embeddedFont>
      <p:font typeface="Oswald"/>
      <p:regular r:id="rId23"/>
      <p:bold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verage-regular.fntdata"/><Relationship Id="rId21" Type="http://schemas.openxmlformats.org/officeDocument/2006/relationships/slide" Target="slides/slide16.xml"/><Relationship Id="rId24" Type="http://schemas.openxmlformats.org/officeDocument/2006/relationships/font" Target="fonts/Oswald-bold.fntdata"/><Relationship Id="rId23" Type="http://schemas.openxmlformats.org/officeDocument/2006/relationships/font" Target="fonts/Oswa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1aef3ca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1aef3ca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1aef3ca2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1aef3ca2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574da1a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574da1a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6400ab09a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6400ab09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6400ab09a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6400ab09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you leave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995</a:t>
            </a:r>
            <a:r>
              <a:rPr lang="en">
                <a:solidFill>
                  <a:schemeClr val="dk1"/>
                </a:solidFill>
              </a:rPr>
              <a:t> untouched: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Tree models</a:t>
            </a:r>
            <a:r>
              <a:rPr lang="en">
                <a:solidFill>
                  <a:schemeClr val="dk1"/>
                </a:solidFill>
              </a:rPr>
              <a:t> (RF, XGBoost, LightGBM) will treat it as a huge age → splits become meaningless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Linear models</a:t>
            </a:r>
            <a:r>
              <a:rPr lang="en">
                <a:solidFill>
                  <a:schemeClr val="dk1"/>
                </a:solidFill>
              </a:rPr>
              <a:t> will get distorted coefficients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KNN</a:t>
            </a:r>
            <a:r>
              <a:rPr lang="en">
                <a:solidFill>
                  <a:schemeClr val="dk1"/>
                </a:solidFill>
              </a:rPr>
              <a:t> will treat those points as extremely far away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Scaling</a:t>
            </a:r>
            <a:r>
              <a:rPr lang="en">
                <a:solidFill>
                  <a:schemeClr val="dk1"/>
                </a:solidFill>
              </a:rPr>
              <a:t> (StandardScaler, MinMaxScaler) will be destroyed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6400ab09a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6400ab09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1aef3ca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1aef3ca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6778435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6778435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67784350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67784350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67784350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67784350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1aef3ca2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1aef3ca2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64966bc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64966bc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64966bcd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64966bcd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1aef3ca2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1aef3ca2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a5d3b93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a5d3b93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163583" y="-9996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Earthquake Damage Predictor</a:t>
            </a:r>
            <a:endParaRPr sz="47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48000" y="1696325"/>
            <a:ext cx="26448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Evan Galea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Felipe Aranda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Silvia Zampar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Virginia Massignan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Amir shahkarami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61" name="Google Shape;61;p13" title="quak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2800" y="1115750"/>
            <a:ext cx="6151199" cy="408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746375" y="1125200"/>
            <a:ext cx="4298700" cy="38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Goal is to predict</a:t>
            </a:r>
            <a:r>
              <a:rPr b="1" lang="en"/>
              <a:t> damage levels to buildings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Earthquakes can cause varying levels of structural damage depending on building characteristics and location.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dataset contains </a:t>
            </a:r>
            <a:r>
              <a:rPr b="1" lang="en"/>
              <a:t>260,000+ buildings with with 38 features</a:t>
            </a:r>
            <a:r>
              <a:rPr lang="en"/>
              <a:t>, including structural, geographical, and usage information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problem has real-world importance in helping governments and orgonizations prioritize </a:t>
            </a:r>
            <a:r>
              <a:rPr b="1" lang="en"/>
              <a:t>reconstruction and improve building safety standards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make recommendations based on findings to improve building safety</a:t>
            </a:r>
            <a:endParaRPr/>
          </a:p>
        </p:txBody>
      </p:sp>
      <p:pic>
        <p:nvPicPr>
          <p:cNvPr id="68" name="Google Shape;68;p14" title="221109010638-01-nepal-earthquake-11092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9225"/>
            <a:ext cx="4746375" cy="347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Large, </a:t>
            </a:r>
            <a:r>
              <a:rPr lang="en"/>
              <a:t>Imbalanced dataset.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High level of noise.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Large number of instances with same features but different outcomes.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relevant features difficult to encode (high cardinality)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Other Contestants have had years to train and submit models.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 title="a-laptop-computer-on-fire-on-a-desk-in-a-dark-room-free-vide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23972"/>
            <a:ext cx="5772651" cy="32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199075" y="2362750"/>
            <a:ext cx="3909600" cy="27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Numerical variables (8)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Geo ID levels (?) :</a:t>
            </a:r>
            <a:r>
              <a:rPr lang="en"/>
              <a:t>geographic region in which building exists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 of the building in years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floors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Normalized area and height  of the building footprint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families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285075" y="2362675"/>
            <a:ext cx="4858800" cy="27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Categorical/Binary </a:t>
            </a:r>
            <a:r>
              <a:rPr lang="en">
                <a:solidFill>
                  <a:srgbClr val="FF0000"/>
                </a:solidFill>
              </a:rPr>
              <a:t>variables (30)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Surface condition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Foundation, roof and ground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Position and plan configuration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Superstructure composition (e.g. brick, stone, bamboo, etc,)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 of secondary use, if any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017725"/>
            <a:ext cx="8408100" cy="13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Entries: 260601 - Building IDs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Variables:38 (numerical and categorical)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Label: Damage category [1-3]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Damage classes are imbalanced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650100" y="1819975"/>
            <a:ext cx="5182200" cy="20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Stratification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during Test/Training split: sets </a:t>
            </a:r>
            <a:r>
              <a:rPr lang="en">
                <a:solidFill>
                  <a:schemeClr val="dk1"/>
                </a:solidFill>
              </a:rPr>
              <a:t>maintain </a:t>
            </a:r>
            <a:r>
              <a:rPr lang="en">
                <a:solidFill>
                  <a:schemeClr val="dk1"/>
                </a:solidFill>
              </a:rPr>
              <a:t>the same class proportions as the full dataset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Considering</a:t>
            </a:r>
            <a:r>
              <a:rPr b="1" lang="en">
                <a:solidFill>
                  <a:schemeClr val="dk1"/>
                </a:solidFill>
              </a:rPr>
              <a:t> Balancing</a:t>
            </a:r>
            <a:r>
              <a:rPr lang="en">
                <a:solidFill>
                  <a:schemeClr val="dk1"/>
                </a:solidFill>
              </a:rPr>
              <a:t> of training set to help the models learn minority classes better.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F1 Score for imbalanced data evaluation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233" y="1276150"/>
            <a:ext cx="3020625" cy="31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10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eature distributions by </a:t>
            </a:r>
            <a:r>
              <a:rPr lang="en"/>
              <a:t>damage</a:t>
            </a:r>
            <a:r>
              <a:rPr lang="en"/>
              <a:t>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6"/>
              <a:t>H</a:t>
            </a:r>
            <a:r>
              <a:rPr lang="en" sz="1756"/>
              <a:t>istograms with n</a:t>
            </a:r>
            <a:r>
              <a:rPr lang="en" sz="1756"/>
              <a:t>ormalized densities</a:t>
            </a:r>
            <a:r>
              <a:rPr lang="en" sz="1756"/>
              <a:t> for numerical variables and Barplots with normalized proportions for categorical </a:t>
            </a:r>
            <a:endParaRPr sz="1756"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050" y="1608949"/>
            <a:ext cx="2681526" cy="17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8750" y="1975200"/>
            <a:ext cx="3787275" cy="2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050" y="3340602"/>
            <a:ext cx="2681526" cy="170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6615853" y="4039625"/>
            <a:ext cx="309600" cy="3096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7092200" y="1993700"/>
            <a:ext cx="2052000" cy="23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Age = 995 </a:t>
            </a:r>
            <a:endParaRPr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Likely a sentinel value for unknown or missing age in 1390 building instances.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Imputation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strategy to be chosen according to the model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Dimensionality reduction plot (2D PCA plots)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311700" y="898075"/>
            <a:ext cx="651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if damage </a:t>
            </a:r>
            <a:r>
              <a:rPr lang="en"/>
              <a:t>classes cluster in the encoded feature space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700" y="1298275"/>
            <a:ext cx="4788604" cy="38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For overcoming challenges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10550" y="1145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Many approaches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Overfit, then reduce overfitting through regularization, PCA, etc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Hyperparameter tuning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While Gridsearch is searching, research other methodologies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Engineer new features: create features from existing data aiming to improve Performance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approaches and the Curse of dimensionality: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11975" y="1152475"/>
            <a:ext cx="8420400" cy="15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495"/>
              <a:t>KnearestNeighbors Performs worse as dimensions increase.</a:t>
            </a:r>
            <a:endParaRPr sz="149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" sz="1495"/>
              <a:t>Support Vector Machines considered, but not ideal for large datasets.</a:t>
            </a:r>
            <a:endParaRPr sz="149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" sz="1495"/>
              <a:t>Neural Networks attempted but long training times and inexperience limited effectiveness. </a:t>
            </a:r>
            <a:endParaRPr sz="149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495"/>
          </a:p>
        </p:txBody>
      </p:sp>
      <p:pic>
        <p:nvPicPr>
          <p:cNvPr id="120" name="Google Shape;120;p21" title="image-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75" y="2571750"/>
            <a:ext cx="4676775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5809925" y="2605075"/>
            <a:ext cx="2808000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 switched to Tree based classifiers and ensemble methods to model the high dimensional, non linear data.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Ensemble methods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500"/>
              <a:t>Random Forest ensemble methods generalise well on noise, and the models gave us stable performance across splits.</a:t>
            </a:r>
            <a:endParaRPr sz="15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500"/>
              <a:t>Train/test v</a:t>
            </a:r>
            <a:r>
              <a:rPr lang="en" sz="1500"/>
              <a:t>alidation F1: 0.724</a:t>
            </a:r>
            <a:endParaRPr sz="15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500"/>
              <a:t>Cross-validation F1 (cv=5): 0.724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500" u="sng"/>
              <a:t>Tuning:</a:t>
            </a:r>
            <a:br>
              <a:rPr lang="en" sz="1500"/>
            </a:br>
            <a:r>
              <a:rPr lang="en" sz="1500"/>
              <a:t>Increasing the number of trees (from 100 to 300) improved performance and adjusting the minimum samples per split (from 2 to 5) reduced overfitting.</a:t>
            </a:r>
            <a:endParaRPr sz="1500"/>
          </a:p>
        </p:txBody>
      </p:sp>
      <p:pic>
        <p:nvPicPr>
          <p:cNvPr id="128" name="Google Shape;128;p22" title="rf_confusion_matrix.jpg"/>
          <p:cNvPicPr preferRelativeResize="0"/>
          <p:nvPr/>
        </p:nvPicPr>
        <p:blipFill rotWithShape="1">
          <a:blip r:embed="rId3">
            <a:alphaModFix/>
          </a:blip>
          <a:srcRect b="0" l="397" r="397" t="0"/>
          <a:stretch/>
        </p:blipFill>
        <p:spPr>
          <a:xfrm>
            <a:off x="4724400" y="1170125"/>
            <a:ext cx="4267201" cy="371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Boosted Trees (Catboost, Histboost)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4572000" y="1152475"/>
            <a:ext cx="4260300" cy="3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/>
              <a:t>CatBoost</a:t>
            </a:r>
            <a:r>
              <a:rPr lang="en" sz="1500"/>
              <a:t>: created to better handle categorical features. In our case, it reduced extreme misclassifications, capturing subtler differences between damage levels. H</a:t>
            </a:r>
            <a:r>
              <a:rPr lang="en" sz="1500"/>
              <a:t>owever, i</a:t>
            </a:r>
            <a:r>
              <a:rPr lang="en" sz="1500"/>
              <a:t>t was more sensitive to data splits than Random Forest.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u="sng"/>
              <a:t>Histogram-base Gradient Boosted </a:t>
            </a:r>
            <a:r>
              <a:rPr lang="en" sz="1500"/>
              <a:t>trees trade slight variance and interpretability for faster training speed than standard GBT.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Our Histogram Boosted Trees attained the highest competition score at 0.7405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L2 Regularization allowed HistBoost to overcome overfitting</a:t>
            </a:r>
            <a:endParaRPr sz="1500"/>
          </a:p>
        </p:txBody>
      </p:sp>
      <p:pic>
        <p:nvPicPr>
          <p:cNvPr id="135" name="Google Shape;135;p23" title="CatBoost_confusion_matrix.jpg"/>
          <p:cNvPicPr preferRelativeResize="0"/>
          <p:nvPr/>
        </p:nvPicPr>
        <p:blipFill rotWithShape="1">
          <a:blip r:embed="rId3">
            <a:alphaModFix/>
          </a:blip>
          <a:srcRect b="0" l="209" r="209" t="0"/>
          <a:stretch/>
        </p:blipFill>
        <p:spPr>
          <a:xfrm>
            <a:off x="254000" y="1152475"/>
            <a:ext cx="4260299" cy="3699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 places us 1146th out of 8722 contestants (just outside top 13%)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#1 Contestant’s solution is better than ours by 2% (0.7558 vs our 0.7405 F1_score). Median score is 0.7348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Top contestants have submitted many attempts (some hundreds) compared to 4 for us.</a:t>
            </a:r>
            <a:endParaRPr/>
          </a:p>
        </p:txBody>
      </p:sp>
      <p:pic>
        <p:nvPicPr>
          <p:cNvPr id="142" name="Google Shape;142;p24" title="LeaderboardSp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700" y="2673875"/>
            <a:ext cx="4572001" cy="189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 title="Top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700" y="83225"/>
            <a:ext cx="4572001" cy="2406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the results: Part 1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5273750" y="1114725"/>
            <a:ext cx="3807600" cy="3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importance similar to Catboosted Trees.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eographical location is the most important feature, often requiring several tree nodes.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superstructure type, building age of a building, the ratio of height to width, and the age of the building.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Least important categories were building use, legal status.</a:t>
            </a:r>
            <a:endParaRPr/>
          </a:p>
        </p:txBody>
      </p:sp>
      <p:pic>
        <p:nvPicPr>
          <p:cNvPr id="150" name="Google Shape;150;p25" title="FeatureImport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6364"/>
            <a:ext cx="5146525" cy="273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17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/>
              <a:t>Interpreting the results: Part 2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88675" y="7451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combine feature importance with previous data exploration to make the following suggestions to the Nepales Government:</a:t>
            </a:r>
            <a:endParaRPr/>
          </a:p>
        </p:txBody>
      </p:sp>
      <p:sp>
        <p:nvSpPr>
          <p:cNvPr id="157" name="Google Shape;157;p26"/>
          <p:cNvSpPr txBox="1"/>
          <p:nvPr/>
        </p:nvSpPr>
        <p:spPr>
          <a:xfrm>
            <a:off x="3356300" y="1550925"/>
            <a:ext cx="5787900" cy="3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Avoid or raise building standards in select geography (fault lines, remote areas, etc).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Reconstruct at-risk homes out of earthquake resistant materials (Reinforced Concrete, Timber).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Avoid Mud Mortar based walls.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Inspect older buildings, regardless of current use.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Other sources generally agree, and also recommend increased response training.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Nepal is a developing country, and so implementing all </a:t>
            </a:r>
            <a:r>
              <a:rPr lang="en" sz="1800">
                <a:solidFill>
                  <a:schemeClr val="dk2"/>
                </a:solidFill>
              </a:rPr>
              <a:t>recommendations</a:t>
            </a:r>
            <a:r>
              <a:rPr lang="en" sz="1800">
                <a:solidFill>
                  <a:schemeClr val="dk2"/>
                </a:solidFill>
              </a:rPr>
              <a:t> at once is unfeasible.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8" name="Google Shape;158;p26" title="faultLin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923" y="1725638"/>
            <a:ext cx="3069276" cy="314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most important features may be unexpected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Worry about underfitting first, then overfitting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 all Feature Augmentation is useful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curse of dimensionality can make some approaches unfeasible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Reducing dimensionality can fail if key information is degraded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and documentation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152475"/>
            <a:ext cx="8520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07399"/>
                </a:solidFill>
                <a:highlight>
                  <a:srgbClr val="FFFFFF"/>
                </a:highlight>
              </a:rPr>
              <a:t>DrivenData. (2019). </a:t>
            </a:r>
            <a:r>
              <a:rPr i="1" lang="en" sz="1200">
                <a:solidFill>
                  <a:srgbClr val="007399"/>
                </a:solidFill>
                <a:highlight>
                  <a:srgbClr val="FFFFFF"/>
                </a:highlight>
              </a:rPr>
              <a:t>Richter's Predictor: Modeling Earthquake Damage.</a:t>
            </a:r>
            <a:r>
              <a:rPr lang="en" sz="1200">
                <a:solidFill>
                  <a:srgbClr val="007399"/>
                </a:solidFill>
                <a:highlight>
                  <a:srgbClr val="FFFFFF"/>
                </a:highlight>
              </a:rPr>
              <a:t> Retrieved [Month Day Year] from https://www.drivendata.org/competitions/57/nepal-earthquake.</a:t>
            </a:r>
            <a:endParaRPr/>
          </a:p>
        </p:txBody>
      </p:sp>
      <p:sp>
        <p:nvSpPr>
          <p:cNvPr id="171" name="Google Shape;171;p28"/>
          <p:cNvSpPr txBox="1"/>
          <p:nvPr/>
        </p:nvSpPr>
        <p:spPr>
          <a:xfrm>
            <a:off x="430150" y="2205225"/>
            <a:ext cx="84021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Use of AI: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430150" y="3041275"/>
            <a:ext cx="87138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AI was used to answer questions about syntax, assist in troubleshooting errors, and to recall answers to basic questions (eg: ‘how is f1 score calculated?’)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